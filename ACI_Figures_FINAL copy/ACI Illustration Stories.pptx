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5198"/>
    <p:restoredTop sz="93213"/>
  </p:normalViewPr>
  <p:slideViewPr>
    <p:cSldViewPr snapToGrid="0">
      <p:cViewPr varScale="1">
        <p:scale>
          <a:sx n="52" d="100"/>
          <a:sy n="52" d="100"/>
        </p:scale>
        <p:origin x="224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3B177-38EA-8315-7D0D-224BE2F619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0ACCF0-0384-A9B8-FA68-78DBAA21E8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FDD6A6-A8BC-0A15-BD5F-BB5F2C643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63589-7B7D-4E4C-B08F-68BB902ACF75}" type="datetimeFigureOut">
              <a:rPr lang="en-CH" smtClean="0"/>
              <a:t>06.07.2026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A4BB9B-3387-624A-D5A0-341CA48B4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3E4389-FEE2-C7B6-5928-5BBA30D8A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968FD-2FD4-AF42-9692-D76B64640B18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365296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6FEBF-9A0A-8766-AAF5-29D31430E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E3D78-50D6-6993-898A-DBA932A52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998E4-2383-64A3-92CF-04523503B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63589-7B7D-4E4C-B08F-68BB902ACF75}" type="datetimeFigureOut">
              <a:rPr lang="en-CH" smtClean="0"/>
              <a:t>06.07.2026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D4EBC-3CE5-1DF3-2297-51A25962D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0583CD-19F8-2547-55A8-3354383E1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968FD-2FD4-AF42-9692-D76B64640B18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769972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5ED81-052E-9E6C-EECF-F9053987B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63A333-B02F-DF29-88C6-E87923D598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73D3DC-A523-12C5-6862-1C0AB6416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63589-7B7D-4E4C-B08F-68BB902ACF75}" type="datetimeFigureOut">
              <a:rPr lang="en-CH" smtClean="0"/>
              <a:t>06.07.2026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EB406D-6199-9037-8985-518DD340F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0AEAC7-88D1-3A9A-3856-F450424E6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968FD-2FD4-AF42-9692-D76B64640B18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160155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0BF2A-5DBF-38E3-512C-4D0EFA523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75F71-34FF-C57E-7F08-CB7C50A4DA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CA0371-15A1-A605-69C9-6412C36F06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E65CE7-3E4C-4265-A00B-6A85C5E62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63589-7B7D-4E4C-B08F-68BB902ACF75}" type="datetimeFigureOut">
              <a:rPr lang="en-CH" smtClean="0"/>
              <a:t>06.07.2026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BCED30-78AB-C527-3630-CD8981515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72214-1723-172C-936F-A8CAB5EAC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968FD-2FD4-AF42-9692-D76B64640B18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863553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7035C-A058-9A0C-C35E-EAD10F68F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8BA6C5-D192-3E80-F675-4DD73CA20D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22AE60-F6B0-1B10-E651-4697A0710C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83A00E-46D5-D433-8833-A6E87240B6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FB0E48-42A1-3301-945A-505493DD07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7CED6D-E8EB-A929-1869-81803A852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63589-7B7D-4E4C-B08F-68BB902ACF75}" type="datetimeFigureOut">
              <a:rPr lang="en-CH" smtClean="0"/>
              <a:t>06.07.2026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00482D-C0B3-8556-5C47-638CE2295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A96372-5508-1646-2B43-CA3131D71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968FD-2FD4-AF42-9692-D76B64640B18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865871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EE85B-8B03-59BC-62D8-31B46F826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498D8E-BBB0-5EB9-5F8D-5F24D5904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63589-7B7D-4E4C-B08F-68BB902ACF75}" type="datetimeFigureOut">
              <a:rPr lang="en-CH" smtClean="0"/>
              <a:t>06.07.2026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B46A3A-DB69-683E-8D83-CCA031C58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F1C65C-5DDE-7D64-8F4A-345D8E748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968FD-2FD4-AF42-9692-D76B64640B18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608373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83DDD8-1836-2270-9855-4E9D44451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63589-7B7D-4E4C-B08F-68BB902ACF75}" type="datetimeFigureOut">
              <a:rPr lang="en-CH" smtClean="0"/>
              <a:t>06.07.2026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1A78F1-DC96-B7F9-2F35-9B3F46E9B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18EE35-8509-60E3-F8E5-D91629B4E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968FD-2FD4-AF42-9692-D76B64640B18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212489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7FA2F-E493-2731-8F04-5172EFDD1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43BFFF-E79F-280E-8034-215D865F38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601FB6-28A1-9937-82D7-B3242ACA52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362CD7-A5BF-EE88-ACF2-C3B6AC318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63589-7B7D-4E4C-B08F-68BB902ACF75}" type="datetimeFigureOut">
              <a:rPr lang="en-CH" smtClean="0"/>
              <a:t>06.07.2026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1B4094-EF94-92AD-9F85-BC465DF36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614A3D-751E-8CCD-B526-9E532A472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968FD-2FD4-AF42-9692-D76B64640B18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706098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22E05-5438-9F52-4827-C3BB1634D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7086C4-3E05-136C-5846-F27284AB44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BF4131-588B-857A-E496-40C9193309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52143B-508C-214F-B3CA-B689212DD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63589-7B7D-4E4C-B08F-68BB902ACF75}" type="datetimeFigureOut">
              <a:rPr lang="en-CH" smtClean="0"/>
              <a:t>06.07.2026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9B9FF3-1D60-BF8F-167B-DBDA1A90D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6086B5-06AD-47C5-A44C-4D7DCA0F5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968FD-2FD4-AF42-9692-D76B64640B18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054333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E0F77-2FD9-1242-089F-F5E422E5B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EAD6BA-B548-794D-75F7-DE3775C4A8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CEBAD4-DEFD-E115-DFCD-8A74E1DAD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63589-7B7D-4E4C-B08F-68BB902ACF75}" type="datetimeFigureOut">
              <a:rPr lang="en-CH" smtClean="0"/>
              <a:t>06.07.2026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CF76F-C308-1977-3B4A-993BD0AE3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28A71F-FA56-CBEE-0CE2-72177B775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968FD-2FD4-AF42-9692-D76B64640B18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28013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EA6CE6-31C4-AF75-30B2-662C6E9D37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BFB17B-F20A-5E36-5E13-0FCDE84B8B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8AFEC3-BFA4-ED63-5051-5D5D8AD93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63589-7B7D-4E4C-B08F-68BB902ACF75}" type="datetimeFigureOut">
              <a:rPr lang="en-CH" smtClean="0"/>
              <a:t>06.07.2026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526C8-96CD-51F9-50D7-BCA234D45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6DC118-D8CF-45C3-BFD3-106BF29C3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968FD-2FD4-AF42-9692-D76B64640B18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936013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B9907B-167C-26B2-BF36-F36568185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E4BC16-3A1C-5096-7432-B4BA990F10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89823-43B0-C131-9595-BD6946D185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063589-7B7D-4E4C-B08F-68BB902ACF75}" type="datetimeFigureOut">
              <a:rPr lang="en-CH" smtClean="0"/>
              <a:t>06.07.2026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5033C4-8567-5A4E-685C-6D7A441D6B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E772EE-43FA-B64C-FBFA-B0A3A74EFF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8968FD-2FD4-AF42-9692-D76B64640B18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496559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07A8442-E279-5E40-07B4-08B9A27A1C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6713" y="273051"/>
            <a:ext cx="11434762" cy="498474"/>
          </a:xfrm>
        </p:spPr>
        <p:txBody>
          <a:bodyPr>
            <a:normAutofit/>
          </a:bodyPr>
          <a:lstStyle/>
          <a:p>
            <a:pPr algn="l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ACI Arcs</a:t>
            </a:r>
            <a:endParaRPr lang="en-CH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3060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A0110-5260-1DD2-7F84-388A754DB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D1E41DB-3CCF-CD87-7E1A-2058724F4A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6713" y="273051"/>
            <a:ext cx="11434762" cy="498474"/>
          </a:xfrm>
        </p:spPr>
        <p:txBody>
          <a:bodyPr>
            <a:normAutofit/>
          </a:bodyPr>
          <a:lstStyle/>
          <a:p>
            <a:pPr algn="l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ACI Arc 1: Exploring Transhumanism (Human + </a:t>
            </a:r>
            <a:r>
              <a:rPr lang="de-CH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Machine</a:t>
            </a:r>
            <a:r>
              <a:rPr lang="de-CH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CH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CH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616A0C1-67A5-9751-50ED-0697D3D6139D}"/>
              </a:ext>
            </a:extLst>
          </p:cNvPr>
          <p:cNvGrpSpPr/>
          <p:nvPr/>
        </p:nvGrpSpPr>
        <p:grpSpPr>
          <a:xfrm>
            <a:off x="451802" y="1575945"/>
            <a:ext cx="11264583" cy="3825377"/>
            <a:chOff x="-5900103" y="0"/>
            <a:chExt cx="20194743" cy="6858000"/>
          </a:xfrm>
        </p:grpSpPr>
        <p:pic>
          <p:nvPicPr>
            <p:cNvPr id="5" name="Picture 4" descr="A poster of a person with wings and feathers&#10;&#10;AI-generated content may be incorrect.">
              <a:extLst>
                <a:ext uri="{FF2B5EF4-FFF2-40B4-BE49-F238E27FC236}">
                  <a16:creationId xmlns:a16="http://schemas.microsoft.com/office/drawing/2014/main" id="{163E79A2-364D-79DB-254B-F62EC76237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27727" y="0"/>
              <a:ext cx="4829415" cy="6858000"/>
            </a:xfrm>
            <a:prstGeom prst="rect">
              <a:avLst/>
            </a:prstGeom>
          </p:spPr>
        </p:pic>
        <p:pic>
          <p:nvPicPr>
            <p:cNvPr id="7" name="Picture 6" descr="A cover of a magazine&#10;&#10;AI-generated content may be incorrect.">
              <a:extLst>
                <a:ext uri="{FF2B5EF4-FFF2-40B4-BE49-F238E27FC236}">
                  <a16:creationId xmlns:a16="http://schemas.microsoft.com/office/drawing/2014/main" id="{70A60A6F-BC17-681F-A9B1-47064D26D7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874906" y="0"/>
              <a:ext cx="4829415" cy="68580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22D850E-C39A-F9C8-1E02-478D654A40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5900103" y="0"/>
              <a:ext cx="4751980" cy="6858000"/>
            </a:xfrm>
            <a:prstGeom prst="rect">
              <a:avLst/>
            </a:prstGeom>
          </p:spPr>
        </p:pic>
        <p:pic>
          <p:nvPicPr>
            <p:cNvPr id="11" name="Picture 10" descr="A person and person sitting at a table&#10;&#10;AI-generated content may be incorrect.">
              <a:extLst>
                <a:ext uri="{FF2B5EF4-FFF2-40B4-BE49-F238E27FC236}">
                  <a16:creationId xmlns:a16="http://schemas.microsoft.com/office/drawing/2014/main" id="{474292AD-7118-9593-32B1-C5979072E37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51836"/>
            <a:stretch>
              <a:fillRect/>
            </a:stretch>
          </p:blipFill>
          <p:spPr>
            <a:xfrm>
              <a:off x="9330359" y="0"/>
              <a:ext cx="4964281" cy="6858000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591B296-0911-D23F-1C3A-B886055B1DC5}"/>
              </a:ext>
            </a:extLst>
          </p:cNvPr>
          <p:cNvSpPr txBox="1"/>
          <p:nvPr/>
        </p:nvSpPr>
        <p:spPr>
          <a:xfrm>
            <a:off x="387625" y="1206613"/>
            <a:ext cx="27168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Iconic Creative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A6B3B7C-BF90-9D94-C08B-44FF50FF1DD9}"/>
              </a:ext>
            </a:extLst>
          </p:cNvPr>
          <p:cNvSpPr txBox="1"/>
          <p:nvPr/>
        </p:nvSpPr>
        <p:spPr>
          <a:xfrm>
            <a:off x="3816626" y="1206613"/>
            <a:ext cx="1371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Archetype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D1DF5A5-3F4C-B5F6-B936-A2A8EA3C2FB8}"/>
              </a:ext>
            </a:extLst>
          </p:cNvPr>
          <p:cNvSpPr txBox="1"/>
          <p:nvPr/>
        </p:nvSpPr>
        <p:spPr>
          <a:xfrm>
            <a:off x="6175512" y="1206613"/>
            <a:ext cx="25543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Creator’s Dæmon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3F0A23F-754E-3302-01B5-66D01E9A0437}"/>
              </a:ext>
            </a:extLst>
          </p:cNvPr>
          <p:cNvSpPr txBox="1"/>
          <p:nvPr/>
        </p:nvSpPr>
        <p:spPr>
          <a:xfrm>
            <a:off x="9087481" y="1206613"/>
            <a:ext cx="25543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Hybrid photorealism </a:t>
            </a:r>
            <a:endParaRPr lang="en-CH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A4607B3-DF52-8623-4993-7FA2CC1B581A}"/>
              </a:ext>
            </a:extLst>
          </p:cNvPr>
          <p:cNvGrpSpPr/>
          <p:nvPr/>
        </p:nvGrpSpPr>
        <p:grpSpPr>
          <a:xfrm flipV="1">
            <a:off x="1962365" y="5418693"/>
            <a:ext cx="8721421" cy="565692"/>
            <a:chOff x="2022000" y="914400"/>
            <a:chExt cx="8721421" cy="565692"/>
          </a:xfrm>
        </p:grpSpPr>
        <p:sp>
          <p:nvSpPr>
            <p:cNvPr id="23" name="Curved Down Arrow 22">
              <a:extLst>
                <a:ext uri="{FF2B5EF4-FFF2-40B4-BE49-F238E27FC236}">
                  <a16:creationId xmlns:a16="http://schemas.microsoft.com/office/drawing/2014/main" id="{CCD265A4-A86F-EDB0-18AA-0E7923601F02}"/>
                </a:ext>
              </a:extLst>
            </p:cNvPr>
            <p:cNvSpPr/>
            <p:nvPr/>
          </p:nvSpPr>
          <p:spPr>
            <a:xfrm>
              <a:off x="2022000" y="914400"/>
              <a:ext cx="2716896" cy="565692"/>
            </a:xfrm>
            <a:prstGeom prst="curvedDownArrow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H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Curved Down Arrow 23">
              <a:extLst>
                <a:ext uri="{FF2B5EF4-FFF2-40B4-BE49-F238E27FC236}">
                  <a16:creationId xmlns:a16="http://schemas.microsoft.com/office/drawing/2014/main" id="{5B80FA16-F023-9993-92BB-EF49F1CA9EC2}"/>
                </a:ext>
              </a:extLst>
            </p:cNvPr>
            <p:cNvSpPr/>
            <p:nvPr/>
          </p:nvSpPr>
          <p:spPr>
            <a:xfrm>
              <a:off x="4738896" y="914400"/>
              <a:ext cx="3270437" cy="565692"/>
            </a:xfrm>
            <a:prstGeom prst="curvedDownArrow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H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Curved Down Arrow 24">
              <a:extLst>
                <a:ext uri="{FF2B5EF4-FFF2-40B4-BE49-F238E27FC236}">
                  <a16:creationId xmlns:a16="http://schemas.microsoft.com/office/drawing/2014/main" id="{A8BFAE0D-8801-6577-E94F-CAF42058F319}"/>
                </a:ext>
              </a:extLst>
            </p:cNvPr>
            <p:cNvSpPr/>
            <p:nvPr/>
          </p:nvSpPr>
          <p:spPr>
            <a:xfrm>
              <a:off x="8087240" y="914400"/>
              <a:ext cx="2656181" cy="565692"/>
            </a:xfrm>
            <a:prstGeom prst="curvedDownArrow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H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FD646BC5-E924-82AF-1CBB-BF157FA54855}"/>
              </a:ext>
            </a:extLst>
          </p:cNvPr>
          <p:cNvSpPr txBox="1"/>
          <p:nvPr/>
        </p:nvSpPr>
        <p:spPr>
          <a:xfrm>
            <a:off x="1956032" y="5457435"/>
            <a:ext cx="27168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I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7036CC1-94CE-4305-112D-9D8E8FA1F7AE}"/>
              </a:ext>
            </a:extLst>
          </p:cNvPr>
          <p:cNvSpPr txBox="1"/>
          <p:nvPr/>
        </p:nvSpPr>
        <p:spPr>
          <a:xfrm>
            <a:off x="4956031" y="5457435"/>
            <a:ext cx="27168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II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7FFD74E-2597-BA6C-BB04-455CAB3B0647}"/>
              </a:ext>
            </a:extLst>
          </p:cNvPr>
          <p:cNvSpPr txBox="1"/>
          <p:nvPr/>
        </p:nvSpPr>
        <p:spPr>
          <a:xfrm>
            <a:off x="8027605" y="5457435"/>
            <a:ext cx="27168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III</a:t>
            </a:r>
          </a:p>
        </p:txBody>
      </p:sp>
    </p:spTree>
    <p:extLst>
      <p:ext uri="{BB962C8B-B14F-4D97-AF65-F5344CB8AC3E}">
        <p14:creationId xmlns:p14="http://schemas.microsoft.com/office/powerpoint/2010/main" val="2357550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2D3C4-110E-D62D-99DF-32E7B9A11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EFBACCB-CA81-7220-B40A-1773B2FA1B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6713" y="273051"/>
            <a:ext cx="11434762" cy="498474"/>
          </a:xfrm>
        </p:spPr>
        <p:txBody>
          <a:bodyPr/>
          <a:lstStyle/>
          <a:p>
            <a:pPr algn="l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ACI Arc 2. Frameworks and Forecasts into Near Futures</a:t>
            </a:r>
            <a:endParaRPr lang="en-CH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75B3FC2-EA55-AAB1-AECB-A6A87104D7AD}"/>
              </a:ext>
            </a:extLst>
          </p:cNvPr>
          <p:cNvGrpSpPr/>
          <p:nvPr/>
        </p:nvGrpSpPr>
        <p:grpSpPr>
          <a:xfrm>
            <a:off x="366713" y="1738510"/>
            <a:ext cx="11376340" cy="3549108"/>
            <a:chOff x="-6323148" y="0"/>
            <a:chExt cx="21982688" cy="68580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E280C4B-A397-E23E-A731-C33F9D234A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6323148" y="0"/>
              <a:ext cx="6858000" cy="6858000"/>
            </a:xfrm>
            <a:prstGeom prst="rect">
              <a:avLst/>
            </a:prstGeom>
          </p:spPr>
        </p:pic>
        <p:pic>
          <p:nvPicPr>
            <p:cNvPr id="8" name="Picture 7" descr="A collage of photos&#10;&#10;AI-generated content may be incorrect.">
              <a:extLst>
                <a:ext uri="{FF2B5EF4-FFF2-40B4-BE49-F238E27FC236}">
                  <a16:creationId xmlns:a16="http://schemas.microsoft.com/office/drawing/2014/main" id="{9683A86E-5A45-909E-96AE-75CB0214F8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5939" y="0"/>
              <a:ext cx="5132581" cy="6858000"/>
            </a:xfrm>
            <a:prstGeom prst="rect">
              <a:avLst/>
            </a:prstGeom>
          </p:spPr>
        </p:pic>
        <p:pic>
          <p:nvPicPr>
            <p:cNvPr id="10" name="Picture 9" descr="A poster with a diagram of a river&#10;&#10;AI-generated content may be incorrect.">
              <a:extLst>
                <a:ext uri="{FF2B5EF4-FFF2-40B4-BE49-F238E27FC236}">
                  <a16:creationId xmlns:a16="http://schemas.microsoft.com/office/drawing/2014/main" id="{E639D58A-C844-8145-6791-1EBD2D4E98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89609" y="0"/>
              <a:ext cx="4572000" cy="6858000"/>
            </a:xfrm>
            <a:prstGeom prst="rect">
              <a:avLst/>
            </a:prstGeom>
          </p:spPr>
        </p:pic>
        <p:pic>
          <p:nvPicPr>
            <p:cNvPr id="12" name="Picture 11" descr="A group of people sitting around a table&#10;&#10;AI-generated content may be incorrect.">
              <a:extLst>
                <a:ext uri="{FF2B5EF4-FFF2-40B4-BE49-F238E27FC236}">
                  <a16:creationId xmlns:a16="http://schemas.microsoft.com/office/drawing/2014/main" id="{D38FC0FB-86DD-B6CD-622F-8F7CFDBCB55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830480" y="0"/>
              <a:ext cx="4829060" cy="6858000"/>
            </a:xfrm>
            <a:prstGeom prst="rect">
              <a:avLst/>
            </a:prstGeom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08A50FE3-883B-7E7E-9AB8-E78ECF5583EE}"/>
              </a:ext>
            </a:extLst>
          </p:cNvPr>
          <p:cNvSpPr txBox="1"/>
          <p:nvPr/>
        </p:nvSpPr>
        <p:spPr>
          <a:xfrm>
            <a:off x="663551" y="1067468"/>
            <a:ext cx="271689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/ Theoretical graphic framework</a:t>
            </a:r>
            <a:r>
              <a:rPr lang="en-CH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C76357-6353-17F3-D4DD-4B68E0DC273E}"/>
              </a:ext>
            </a:extLst>
          </p:cNvPr>
          <p:cNvSpPr txBox="1"/>
          <p:nvPr/>
        </p:nvSpPr>
        <p:spPr>
          <a:xfrm>
            <a:off x="4309545" y="1344467"/>
            <a:ext cx="184867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Forecast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4D53F5-03A1-5BC4-9D69-6A05F0F7E005}"/>
              </a:ext>
            </a:extLst>
          </p:cNvPr>
          <p:cNvSpPr txBox="1"/>
          <p:nvPr/>
        </p:nvSpPr>
        <p:spPr>
          <a:xfrm>
            <a:off x="7006112" y="1067468"/>
            <a:ext cx="169627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Speculative design object</a:t>
            </a:r>
            <a:r>
              <a:rPr lang="en-CH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55FE37-0287-ED28-AF26-AEAEFC732D0D}"/>
              </a:ext>
            </a:extLst>
          </p:cNvPr>
          <p:cNvSpPr txBox="1"/>
          <p:nvPr/>
        </p:nvSpPr>
        <p:spPr>
          <a:xfrm>
            <a:off x="9286265" y="1067468"/>
            <a:ext cx="255435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Hybrid </a:t>
            </a:r>
          </a:p>
          <a:p>
            <a:pPr algn="ctr"/>
            <a:r>
              <a:rPr lang="en-US" sz="2000" b="1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photorealism </a:t>
            </a:r>
            <a:endParaRPr lang="en-CH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C289087-9B20-62F4-29C6-3429E4C6E9B4}"/>
              </a:ext>
            </a:extLst>
          </p:cNvPr>
          <p:cNvGrpSpPr/>
          <p:nvPr/>
        </p:nvGrpSpPr>
        <p:grpSpPr>
          <a:xfrm flipV="1">
            <a:off x="1962364" y="5339181"/>
            <a:ext cx="8721422" cy="565692"/>
            <a:chOff x="2021999" y="914400"/>
            <a:chExt cx="8721422" cy="565692"/>
          </a:xfrm>
        </p:grpSpPr>
        <p:sp>
          <p:nvSpPr>
            <p:cNvPr id="18" name="Curved Down Arrow 17">
              <a:extLst>
                <a:ext uri="{FF2B5EF4-FFF2-40B4-BE49-F238E27FC236}">
                  <a16:creationId xmlns:a16="http://schemas.microsoft.com/office/drawing/2014/main" id="{388974D8-73D9-5620-99D6-E66484D00F61}"/>
                </a:ext>
              </a:extLst>
            </p:cNvPr>
            <p:cNvSpPr/>
            <p:nvPr/>
          </p:nvSpPr>
          <p:spPr>
            <a:xfrm>
              <a:off x="2021999" y="914400"/>
              <a:ext cx="3331153" cy="565692"/>
            </a:xfrm>
            <a:prstGeom prst="curvedDownArrow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H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Curved Down Arrow 18">
              <a:extLst>
                <a:ext uri="{FF2B5EF4-FFF2-40B4-BE49-F238E27FC236}">
                  <a16:creationId xmlns:a16="http://schemas.microsoft.com/office/drawing/2014/main" id="{AF0713B6-423B-BF7B-4003-930F1E6F4F3E}"/>
                </a:ext>
              </a:extLst>
            </p:cNvPr>
            <p:cNvSpPr/>
            <p:nvPr/>
          </p:nvSpPr>
          <p:spPr>
            <a:xfrm>
              <a:off x="5353152" y="914400"/>
              <a:ext cx="2656181" cy="565692"/>
            </a:xfrm>
            <a:prstGeom prst="curvedDownArrow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H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Curved Down Arrow 19">
              <a:extLst>
                <a:ext uri="{FF2B5EF4-FFF2-40B4-BE49-F238E27FC236}">
                  <a16:creationId xmlns:a16="http://schemas.microsoft.com/office/drawing/2014/main" id="{DAD239B8-9E3D-9923-A8E9-08081E217F75}"/>
                </a:ext>
              </a:extLst>
            </p:cNvPr>
            <p:cNvSpPr/>
            <p:nvPr/>
          </p:nvSpPr>
          <p:spPr>
            <a:xfrm>
              <a:off x="8087240" y="914400"/>
              <a:ext cx="2656181" cy="565692"/>
            </a:xfrm>
            <a:prstGeom prst="curvedDownArrow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H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119DFE7D-F05F-B818-DC17-FC687F4A16B3}"/>
              </a:ext>
            </a:extLst>
          </p:cNvPr>
          <p:cNvSpPr txBox="1"/>
          <p:nvPr/>
        </p:nvSpPr>
        <p:spPr>
          <a:xfrm>
            <a:off x="2234329" y="5338167"/>
            <a:ext cx="27168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I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50E36AC-4C42-0522-F4D2-8B71CAD11218}"/>
              </a:ext>
            </a:extLst>
          </p:cNvPr>
          <p:cNvSpPr txBox="1"/>
          <p:nvPr/>
        </p:nvSpPr>
        <p:spPr>
          <a:xfrm>
            <a:off x="5333718" y="5338167"/>
            <a:ext cx="27168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II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32D0A25-1F61-83A4-BE47-8C18D8C32CB5}"/>
              </a:ext>
            </a:extLst>
          </p:cNvPr>
          <p:cNvSpPr txBox="1"/>
          <p:nvPr/>
        </p:nvSpPr>
        <p:spPr>
          <a:xfrm>
            <a:off x="8027605" y="5338167"/>
            <a:ext cx="27168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III</a:t>
            </a:r>
          </a:p>
        </p:txBody>
      </p:sp>
    </p:spTree>
    <p:extLst>
      <p:ext uri="{BB962C8B-B14F-4D97-AF65-F5344CB8AC3E}">
        <p14:creationId xmlns:p14="http://schemas.microsoft.com/office/powerpoint/2010/main" val="3708067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5F67C-31A6-23F0-5E96-E659EB031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C344DD6-FA8C-BECF-1564-C61E8AD08A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6713" y="273051"/>
            <a:ext cx="11434762" cy="498474"/>
          </a:xfrm>
        </p:spPr>
        <p:txBody>
          <a:bodyPr/>
          <a:lstStyle/>
          <a:p>
            <a:r>
              <a:rPr lang="en-US" b="1" dirty="0"/>
              <a:t>ACI Arc 4. Speculating Discipline + Practice  (each Part II chapter)</a:t>
            </a:r>
            <a:endParaRPr lang="en-CH" b="1" dirty="0"/>
          </a:p>
          <a:p>
            <a:pPr algn="l"/>
            <a:endParaRPr lang="en-CH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B217A11-FD96-5EED-0260-5DC2A31FADA0}"/>
              </a:ext>
            </a:extLst>
          </p:cNvPr>
          <p:cNvGrpSpPr/>
          <p:nvPr/>
        </p:nvGrpSpPr>
        <p:grpSpPr>
          <a:xfrm>
            <a:off x="618201" y="1789566"/>
            <a:ext cx="7817598" cy="3549108"/>
            <a:chOff x="745939" y="0"/>
            <a:chExt cx="15106074" cy="6858000"/>
          </a:xfrm>
        </p:grpSpPr>
        <p:pic>
          <p:nvPicPr>
            <p:cNvPr id="8" name="Picture 7" descr="A collage of photos&#10;&#10;AI-generated content may be incorrect.">
              <a:extLst>
                <a:ext uri="{FF2B5EF4-FFF2-40B4-BE49-F238E27FC236}">
                  <a16:creationId xmlns:a16="http://schemas.microsoft.com/office/drawing/2014/main" id="{4D83603C-CC9B-37AC-7ACF-672C633532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45939" y="0"/>
              <a:ext cx="5132581" cy="6858000"/>
            </a:xfrm>
            <a:prstGeom prst="rect">
              <a:avLst/>
            </a:prstGeom>
          </p:spPr>
        </p:pic>
        <p:pic>
          <p:nvPicPr>
            <p:cNvPr id="10" name="Picture 9" descr="A poster with a diagram of a river&#10;&#10;AI-generated content may be incorrect.">
              <a:extLst>
                <a:ext uri="{FF2B5EF4-FFF2-40B4-BE49-F238E27FC236}">
                  <a16:creationId xmlns:a16="http://schemas.microsoft.com/office/drawing/2014/main" id="{AFDCC909-F8B7-BAFA-D80A-BA9E0F113C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280013" y="0"/>
              <a:ext cx="4572000" cy="6858000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985DFE5B-6930-AF5A-6D1C-A5D6BD6499C9}"/>
              </a:ext>
            </a:extLst>
          </p:cNvPr>
          <p:cNvSpPr txBox="1"/>
          <p:nvPr/>
        </p:nvSpPr>
        <p:spPr>
          <a:xfrm>
            <a:off x="799488" y="1036020"/>
            <a:ext cx="184867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Forecast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DAD4C8-B043-E921-44C9-5C04F4415651}"/>
              </a:ext>
            </a:extLst>
          </p:cNvPr>
          <p:cNvSpPr txBox="1"/>
          <p:nvPr/>
        </p:nvSpPr>
        <p:spPr>
          <a:xfrm>
            <a:off x="6493158" y="1067468"/>
            <a:ext cx="169627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Speculative design object</a:t>
            </a:r>
            <a:r>
              <a:rPr lang="en-CH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B9918A-9A05-0B31-CDCA-E7DD8E7F9EAE}"/>
              </a:ext>
            </a:extLst>
          </p:cNvPr>
          <p:cNvSpPr txBox="1"/>
          <p:nvPr/>
        </p:nvSpPr>
        <p:spPr>
          <a:xfrm>
            <a:off x="3347547" y="1201281"/>
            <a:ext cx="25543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Dæmon</a:t>
            </a:r>
            <a:endParaRPr lang="en-CH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537065B-409D-7880-099B-E7DB027A0F77}"/>
              </a:ext>
            </a:extLst>
          </p:cNvPr>
          <p:cNvGrpSpPr/>
          <p:nvPr/>
        </p:nvGrpSpPr>
        <p:grpSpPr>
          <a:xfrm flipV="1">
            <a:off x="1915106" y="5352455"/>
            <a:ext cx="7743635" cy="565692"/>
            <a:chOff x="2021999" y="914400"/>
            <a:chExt cx="10654520" cy="565692"/>
          </a:xfrm>
        </p:grpSpPr>
        <p:sp>
          <p:nvSpPr>
            <p:cNvPr id="18" name="Curved Down Arrow 17">
              <a:extLst>
                <a:ext uri="{FF2B5EF4-FFF2-40B4-BE49-F238E27FC236}">
                  <a16:creationId xmlns:a16="http://schemas.microsoft.com/office/drawing/2014/main" id="{83DC8259-A16F-D01D-6803-C948D3504565}"/>
                </a:ext>
              </a:extLst>
            </p:cNvPr>
            <p:cNvSpPr/>
            <p:nvPr/>
          </p:nvSpPr>
          <p:spPr>
            <a:xfrm>
              <a:off x="2021999" y="914400"/>
              <a:ext cx="3331153" cy="565692"/>
            </a:xfrm>
            <a:prstGeom prst="curvedDownArrow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H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Curved Down Arrow 18">
              <a:extLst>
                <a:ext uri="{FF2B5EF4-FFF2-40B4-BE49-F238E27FC236}">
                  <a16:creationId xmlns:a16="http://schemas.microsoft.com/office/drawing/2014/main" id="{EF5BA995-698B-95C6-17B7-7A698DAACDD5}"/>
                </a:ext>
              </a:extLst>
            </p:cNvPr>
            <p:cNvSpPr/>
            <p:nvPr/>
          </p:nvSpPr>
          <p:spPr>
            <a:xfrm>
              <a:off x="5752069" y="914400"/>
              <a:ext cx="3331153" cy="565692"/>
            </a:xfrm>
            <a:prstGeom prst="curvedDownArrow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H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Curved Down Arrow 19">
              <a:extLst>
                <a:ext uri="{FF2B5EF4-FFF2-40B4-BE49-F238E27FC236}">
                  <a16:creationId xmlns:a16="http://schemas.microsoft.com/office/drawing/2014/main" id="{449FA41F-A572-284A-1945-1C12D4210721}"/>
                </a:ext>
              </a:extLst>
            </p:cNvPr>
            <p:cNvSpPr/>
            <p:nvPr/>
          </p:nvSpPr>
          <p:spPr>
            <a:xfrm>
              <a:off x="9345366" y="914400"/>
              <a:ext cx="3331153" cy="565692"/>
            </a:xfrm>
            <a:prstGeom prst="curvedDownArrow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H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880DD78B-701B-175D-E84B-52D18004AF1D}"/>
              </a:ext>
            </a:extLst>
          </p:cNvPr>
          <p:cNvSpPr txBox="1"/>
          <p:nvPr/>
        </p:nvSpPr>
        <p:spPr>
          <a:xfrm>
            <a:off x="-137404" y="5338167"/>
            <a:ext cx="27168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Collage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512FE26-798B-4C0A-56F4-E4AED42F7CC2}"/>
              </a:ext>
            </a:extLst>
          </p:cNvPr>
          <p:cNvSpPr txBox="1"/>
          <p:nvPr/>
        </p:nvSpPr>
        <p:spPr>
          <a:xfrm>
            <a:off x="8732252" y="5415835"/>
            <a:ext cx="271689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Hybrid </a:t>
            </a:r>
          </a:p>
          <a:p>
            <a:pPr algn="ctr"/>
            <a:r>
              <a:rPr lang="en-US" sz="2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Illustration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600F60-C67D-2334-218D-BD41D17104D1}"/>
              </a:ext>
            </a:extLst>
          </p:cNvPr>
          <p:cNvSpPr txBox="1"/>
          <p:nvPr/>
        </p:nvSpPr>
        <p:spPr>
          <a:xfrm>
            <a:off x="6052229" y="5709910"/>
            <a:ext cx="23102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Visualization</a:t>
            </a:r>
          </a:p>
        </p:txBody>
      </p:sp>
      <p:pic>
        <p:nvPicPr>
          <p:cNvPr id="4" name="Picture 3" descr="A poster of a person in a long dress&#10;&#10;AI-generated content may be incorrect.">
            <a:extLst>
              <a:ext uri="{FF2B5EF4-FFF2-40B4-BE49-F238E27FC236}">
                <a16:creationId xmlns:a16="http://schemas.microsoft.com/office/drawing/2014/main" id="{5421FCD8-0245-772E-9BCC-7F3F8C31E2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1035" y="1797657"/>
            <a:ext cx="2498931" cy="3548601"/>
          </a:xfrm>
          <a:prstGeom prst="rect">
            <a:avLst/>
          </a:prstGeom>
        </p:spPr>
      </p:pic>
      <p:pic>
        <p:nvPicPr>
          <p:cNvPr id="7" name="Picture 6" descr="A poster of a person in a blue dress&#10;&#10;AI-generated content may be incorrect.">
            <a:extLst>
              <a:ext uri="{FF2B5EF4-FFF2-40B4-BE49-F238E27FC236}">
                <a16:creationId xmlns:a16="http://schemas.microsoft.com/office/drawing/2014/main" id="{AC6DE985-F01C-DAB9-1671-1F46DCC8DF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2878" y="1744962"/>
            <a:ext cx="2498931" cy="354860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170C2DE-7622-CFCE-A2D6-0A62C7C30F85}"/>
              </a:ext>
            </a:extLst>
          </p:cNvPr>
          <p:cNvSpPr txBox="1"/>
          <p:nvPr/>
        </p:nvSpPr>
        <p:spPr>
          <a:xfrm>
            <a:off x="3697252" y="5719909"/>
            <a:ext cx="14092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Hybrid </a:t>
            </a:r>
          </a:p>
          <a:p>
            <a:pPr algn="ctr"/>
            <a:r>
              <a:rPr lang="en-US" sz="18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Illustration </a:t>
            </a:r>
            <a:endParaRPr lang="en-CH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CH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DA561FC-E723-A7B7-8D09-8B66E1C0F399}"/>
              </a:ext>
            </a:extLst>
          </p:cNvPr>
          <p:cNvSpPr txBox="1"/>
          <p:nvPr/>
        </p:nvSpPr>
        <p:spPr>
          <a:xfrm>
            <a:off x="8592878" y="1227837"/>
            <a:ext cx="25543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Dæmon</a:t>
            </a:r>
            <a:endParaRPr lang="en-CH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6173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55EA0-8CA1-1FFC-9109-B20F6D618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212C2F0-E951-BA89-73B0-B093713F15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6713" y="273051"/>
            <a:ext cx="11434762" cy="498474"/>
          </a:xfrm>
        </p:spPr>
        <p:txBody>
          <a:bodyPr/>
          <a:lstStyle/>
          <a:p>
            <a:r>
              <a:rPr lang="en-US" b="1" dirty="0"/>
              <a:t>ACI Arc 5. Speculating Systemic Intervention (each Part III chapter)</a:t>
            </a:r>
            <a:endParaRPr lang="en-CH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E7DA0E-8762-B51A-DF66-DB848D6563D8}"/>
              </a:ext>
            </a:extLst>
          </p:cNvPr>
          <p:cNvSpPr txBox="1"/>
          <p:nvPr/>
        </p:nvSpPr>
        <p:spPr>
          <a:xfrm>
            <a:off x="1353481" y="1521035"/>
            <a:ext cx="184867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Framing the intervention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AABB3A-5F71-9BC1-F760-43D6C265EC47}"/>
              </a:ext>
            </a:extLst>
          </p:cNvPr>
          <p:cNvSpPr txBox="1"/>
          <p:nvPr/>
        </p:nvSpPr>
        <p:spPr>
          <a:xfrm>
            <a:off x="8248746" y="1498354"/>
            <a:ext cx="255435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CH"/>
            </a:defPPr>
            <a:lvl1pPr algn="ctr">
              <a:defRPr sz="20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Engagement and Reflection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27C8F2-E60E-0C9D-3FD8-1F6CB6A1CD2D}"/>
              </a:ext>
            </a:extLst>
          </p:cNvPr>
          <p:cNvSpPr txBox="1"/>
          <p:nvPr/>
        </p:nvSpPr>
        <p:spPr>
          <a:xfrm>
            <a:off x="4448274" y="1521035"/>
            <a:ext cx="255435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Co-creating the design object</a:t>
            </a:r>
            <a:endParaRPr lang="en-CH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409F310-000D-7657-9542-8F54A84755A8}"/>
              </a:ext>
            </a:extLst>
          </p:cNvPr>
          <p:cNvGrpSpPr/>
          <p:nvPr/>
        </p:nvGrpSpPr>
        <p:grpSpPr>
          <a:xfrm>
            <a:off x="784975" y="2338555"/>
            <a:ext cx="10622050" cy="2337134"/>
            <a:chOff x="696739" y="2689772"/>
            <a:chExt cx="7911225" cy="174068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E031CA3-260E-C699-FDA4-968239D913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25457" b="26355"/>
            <a:stretch>
              <a:fillRect/>
            </a:stretch>
          </p:blipFill>
          <p:spPr>
            <a:xfrm>
              <a:off x="696739" y="2693054"/>
              <a:ext cx="2499104" cy="1710253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B46ABAF6-77EA-AC4B-C09B-56928A111E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5996768" y="2689772"/>
              <a:ext cx="2611196" cy="1737397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AB9E72F-347D-D4F4-22EE-46F69D05DD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3290707" y="2693054"/>
              <a:ext cx="2611197" cy="1737398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1E7EB317-4546-4989-DDE7-C66AC2D608BD}"/>
              </a:ext>
            </a:extLst>
          </p:cNvPr>
          <p:cNvSpPr txBox="1"/>
          <p:nvPr/>
        </p:nvSpPr>
        <p:spPr>
          <a:xfrm>
            <a:off x="4267780" y="5429565"/>
            <a:ext cx="40284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Hybrid  </a:t>
            </a:r>
            <a:r>
              <a:rPr lang="en-US" sz="1800" b="1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Phototrealism</a:t>
            </a:r>
            <a:r>
              <a:rPr lang="en-US" sz="18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endParaRPr lang="en-CH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CH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39CFC7-8EC1-39A0-F84B-0E8653C37844}"/>
              </a:ext>
            </a:extLst>
          </p:cNvPr>
          <p:cNvSpPr txBox="1"/>
          <p:nvPr/>
        </p:nvSpPr>
        <p:spPr>
          <a:xfrm>
            <a:off x="3347547" y="6962367"/>
            <a:ext cx="6178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		</a:t>
            </a:r>
            <a:endParaRPr lang="en-CH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EF2B625-F6E6-5B39-004D-F705912FCDA6}"/>
              </a:ext>
            </a:extLst>
          </p:cNvPr>
          <p:cNvGrpSpPr/>
          <p:nvPr/>
        </p:nvGrpSpPr>
        <p:grpSpPr>
          <a:xfrm flipV="1">
            <a:off x="2076025" y="4712521"/>
            <a:ext cx="7735240" cy="680212"/>
            <a:chOff x="2021999" y="914400"/>
            <a:chExt cx="5987334" cy="565692"/>
          </a:xfrm>
        </p:grpSpPr>
        <p:sp>
          <p:nvSpPr>
            <p:cNvPr id="14" name="Curved Down Arrow 13">
              <a:extLst>
                <a:ext uri="{FF2B5EF4-FFF2-40B4-BE49-F238E27FC236}">
                  <a16:creationId xmlns:a16="http://schemas.microsoft.com/office/drawing/2014/main" id="{F93D1703-0B2E-4D3D-A990-9C80B9CA84BE}"/>
                </a:ext>
              </a:extLst>
            </p:cNvPr>
            <p:cNvSpPr/>
            <p:nvPr/>
          </p:nvSpPr>
          <p:spPr>
            <a:xfrm>
              <a:off x="2021999" y="914400"/>
              <a:ext cx="3331153" cy="565692"/>
            </a:xfrm>
            <a:prstGeom prst="curvedDownArrow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H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Curved Down Arrow 25">
              <a:extLst>
                <a:ext uri="{FF2B5EF4-FFF2-40B4-BE49-F238E27FC236}">
                  <a16:creationId xmlns:a16="http://schemas.microsoft.com/office/drawing/2014/main" id="{250D756A-97C1-1D0F-9565-8ABAD2711285}"/>
                </a:ext>
              </a:extLst>
            </p:cNvPr>
            <p:cNvSpPr/>
            <p:nvPr/>
          </p:nvSpPr>
          <p:spPr>
            <a:xfrm>
              <a:off x="5353152" y="914400"/>
              <a:ext cx="2656181" cy="565692"/>
            </a:xfrm>
            <a:prstGeom prst="curvedDownArrow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H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269503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112</Words>
  <Application>Microsoft Macintosh PowerPoint</Application>
  <PresentationFormat>Widescreen</PresentationFormat>
  <Paragraphs>37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b4199</dc:creator>
  <cp:lastModifiedBy>b4199</cp:lastModifiedBy>
  <cp:revision>6</cp:revision>
  <dcterms:created xsi:type="dcterms:W3CDTF">2026-07-05T06:32:16Z</dcterms:created>
  <dcterms:modified xsi:type="dcterms:W3CDTF">2026-07-06T09:55:03Z</dcterms:modified>
</cp:coreProperties>
</file>